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2103120"/>
            <a:ext cx="5120640" cy="5120640"/>
          </a:xfrm>
          <a:prstGeom prst="ellipse">
            <a:avLst/>
          </a:prstGeom>
          <a:noFill/>
          <a:ln w="17780">
            <a:solidFill>
              <a:srgbClr val="00B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463040"/>
            <a:ext cx="3840480" cy="3840480"/>
          </a:xfrm>
          <a:prstGeom prst="ellipse">
            <a:avLst/>
          </a:prstGeom>
          <a:noFill/>
          <a:ln w="12700">
            <a:solidFill>
              <a:srgbClr val="00B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64040" y="-868680"/>
            <a:ext cx="2651760" cy="2651760"/>
          </a:xfrm>
          <a:prstGeom prst="ellipse">
            <a:avLst/>
          </a:prstGeom>
          <a:noFill/>
          <a:ln w="8890">
            <a:solidFill>
              <a:srgbClr val="00B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011680" y="5120640"/>
            <a:ext cx="4937760" cy="4937760"/>
          </a:xfrm>
          <a:prstGeom prst="ellipse">
            <a:avLst/>
          </a:prstGeom>
          <a:noFill/>
          <a:ln w="12700">
            <a:solidFill>
              <a:srgbClr val="E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9D4"/>
                </a:solidFill>
                <a:latin typeface="微软雅黑"/>
                <a:ea typeface="微软雅黑"/>
              </a:rPr>
              <a:t>DESKTOP COMPANION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0B1F2A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94760"/>
            <a:ext cx="2377440" cy="36576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A4A55"/>
                </a:solidFill>
                <a:latin typeface="微软雅黑"/>
                <a:ea typeface="微软雅黑"/>
              </a:rPr>
              <a:t>基于 Electron 的桌面智能伴侣与系统状态可视化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1F2A"/>
                </a:solidFill>
                <a:latin typeface="微软雅黑"/>
                <a:ea typeface="微软雅黑"/>
              </a:rPr>
              <a:t>项目答辩</a:t>
            </a:r>
            <a:r>
              <a:rPr sz="1400" b="0">
                <a:solidFill>
                  <a:srgbClr val="7A8893"/>
                </a:solidFill>
                <a:latin typeface="微软雅黑"/>
                <a:ea typeface="微软雅黑"/>
              </a:rPr>
              <a:t>　　团队 / 作者：____________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91440" cy="56692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2A"/>
                </a:solidFill>
                <a:latin typeface="微软雅黑"/>
                <a:ea typeface="微软雅黑"/>
              </a:rPr>
              <a:t>项目背景与意义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078992"/>
            <a:ext cx="2103120" cy="27432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6304" y="411480"/>
            <a:ext cx="384048" cy="23774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32920" y="411480"/>
            <a:ext cx="23774" cy="38404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桌面场景高频：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桌面是日常学习与工作的主要入口，但传统桌面组件缺乏情感陪伴与主动信息呈现能力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传统挂件局限：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多数桌面挂件功能单一、静态，难以提供拟人化、动态、可交互的体验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状态信息割裂：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CPU、内存、电池、网络等系统状态通常隐藏在任务栏或设置中，缺少直观、实时的可视化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项目意义：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将「情感陪伴」与「系统状态可视化」整合于单一桌面组件，提升桌面交互体验与信息获取效率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91440" cy="56692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2A"/>
                </a:solidFill>
                <a:latin typeface="微软雅黑"/>
                <a:ea typeface="微软雅黑"/>
              </a:rP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078992"/>
            <a:ext cx="2103120" cy="27432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6304" y="411480"/>
            <a:ext cx="384048" cy="23774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32920" y="411480"/>
            <a:ext cx="23774" cy="38404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03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A4A55"/>
                </a:solidFill>
                <a:latin typeface="微软雅黑"/>
                <a:ea typeface="微软雅黑"/>
              </a:rPr>
              <a:t>基于 Electron 的跨平台桌面智能宠物系统，以拟人化角色为载体，融合陪伴交互与实时系统监控。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3401568" cy="1463040"/>
          </a:xfrm>
          <a:prstGeom prst="roundRect">
            <a:avLst/>
          </a:prstGeom>
          <a:solidFill>
            <a:srgbClr val="E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82296" cy="1463040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42032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舰长 · 指挥官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35808"/>
            <a:ext cx="2852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3A4A55"/>
                </a:solidFill>
                <a:latin typeface="微软雅黑"/>
                <a:ea typeface="微软雅黑"/>
              </a:rPr>
              <a:t>科技 / 指挥风格，冰蓝主题，负责数据与状态播报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377440"/>
            <a:ext cx="3401568" cy="1463040"/>
          </a:xfrm>
          <a:prstGeom prst="roundRect">
            <a:avLst/>
          </a:prstGeom>
          <a:solidFill>
            <a:srgbClr val="E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2377440"/>
            <a:ext cx="82296" cy="14630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2542032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女仆 · 陪伴者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3035808"/>
            <a:ext cx="2852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3A4A55"/>
                </a:solidFill>
                <a:latin typeface="微软雅黑"/>
                <a:ea typeface="微软雅黑"/>
              </a:rPr>
              <a:t>温暖 / 欢迎风格，暖橙主题，负责问候与日常陪伴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2377440"/>
            <a:ext cx="3401568" cy="1463040"/>
          </a:xfrm>
          <a:prstGeom prst="roundRect">
            <a:avLst/>
          </a:prstGeom>
          <a:solidFill>
            <a:srgbClr val="E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992" y="2377440"/>
            <a:ext cx="82296" cy="1463040"/>
          </a:xfrm>
          <a:prstGeom prst="rect">
            <a:avLst/>
          </a:prstGeom>
          <a:solidFill>
            <a:srgbClr val="DD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2542032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守卫 · 警戒者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3035808"/>
            <a:ext cx="2852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3A4A55"/>
                </a:solidFill>
                <a:latin typeface="微软雅黑"/>
                <a:ea typeface="微软雅黑"/>
              </a:rPr>
              <a:t>安全 / 警戒风格，红色主题，负责异常状态告警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2A"/>
                </a:solidFill>
                <a:latin typeface="微软雅黑"/>
                <a:ea typeface="微软雅黑"/>
              </a:rPr>
              <a:t>核心能力：拟人化角色切换 · 语音气泡交互 · 实时系统状态监控与告警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91440" cy="56692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2A"/>
                </a:solidFill>
                <a:latin typeface="微软雅黑"/>
                <a:ea typeface="微软雅黑"/>
              </a:rP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078992"/>
            <a:ext cx="2103120" cy="27432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6304" y="411480"/>
            <a:ext cx="384048" cy="23774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32920" y="411480"/>
            <a:ext cx="23774" cy="38404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463040"/>
            <a:ext cx="10149840" cy="1051560"/>
          </a:xfrm>
          <a:prstGeom prst="roundRect">
            <a:avLst/>
          </a:prstGeom>
          <a:solidFill>
            <a:srgbClr val="E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1463040"/>
            <a:ext cx="82296" cy="1051560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6276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渲染层  renderer.js + HTML/CSS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2140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3A4A55"/>
                </a:solidFill>
                <a:latin typeface="微软雅黑"/>
                <a:ea typeface="微软雅黑"/>
              </a:rPr>
              <a:t>负责角色渲染、HUD 数据展示、动效与交互逻辑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2542032"/>
            <a:ext cx="320040" cy="274320"/>
          </a:xfrm>
          <a:prstGeom prst="downArrow">
            <a:avLst/>
          </a:prstGeom>
          <a:solidFill>
            <a:srgbClr val="7A8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2880360"/>
            <a:ext cx="10149840" cy="1051560"/>
          </a:xfrm>
          <a:prstGeom prst="roundRect">
            <a:avLst/>
          </a:prstGeom>
          <a:solidFill>
            <a:srgbClr val="E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2880360"/>
            <a:ext cx="82296" cy="1051560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0449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预加载层  preload.js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3872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3A4A55"/>
                </a:solidFill>
                <a:latin typeface="微软雅黑"/>
                <a:ea typeface="微软雅黑"/>
              </a:rPr>
              <a:t>通过 contextBridge 安全暴露 API，桥接渲染层与主进程，避免直接暴露 Node 能力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43600" y="3959352"/>
            <a:ext cx="320040" cy="274320"/>
          </a:xfrm>
          <a:prstGeom prst="downArrow">
            <a:avLst/>
          </a:prstGeom>
          <a:solidFill>
            <a:srgbClr val="7A8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297680"/>
            <a:ext cx="10149840" cy="1051560"/>
          </a:xfrm>
          <a:prstGeom prst="roundRect">
            <a:avLst/>
          </a:prstGeom>
          <a:solidFill>
            <a:srgbClr val="E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297680"/>
            <a:ext cx="82296" cy="1051560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4622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主进程  main.js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95604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3A4A55"/>
                </a:solidFill>
                <a:latin typeface="微软雅黑"/>
                <a:ea typeface="微软雅黑"/>
              </a:rPr>
              <a:t>窗口管理、系统状态采集（CPU / 内存 / 电池 / 网络）、IPC 通信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064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A4A55"/>
                </a:solidFill>
                <a:latin typeface="微软雅黑"/>
                <a:ea typeface="微软雅黑"/>
              </a:rPr>
              <a:t>通信机制：ipcRenderer / ipcMain 的 invoke 调用与事件推送，实现主进程到渲染层状态的实时同步。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91440" cy="56692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2A"/>
                </a:solidFill>
                <a:latin typeface="微软雅黑"/>
                <a:ea typeface="微软雅黑"/>
              </a:rPr>
              <a:t>核心功能设计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078992"/>
            <a:ext cx="2103120" cy="27432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6304" y="411480"/>
            <a:ext cx="384048" cy="23774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32920" y="411480"/>
            <a:ext cx="23774" cy="38404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05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角色切换：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通过快捷键在舰长 / 女仆 / 守卫三个角色间切换，主题色、立绘、台词与 HUD 联动更新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语音气泡：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根据角色与事件（问候、低电量、断网等）动态生成差异化台词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系统监控：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实时采集并展示 CPU 使用率、内存占用、电池电量、网络状态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状态告警：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低电量或断网时触发气泡提醒，并联动守卫角色的警戒动效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91440" cy="56692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2A"/>
                </a:solidFill>
                <a:latin typeface="微软雅黑"/>
                <a:ea typeface="微软雅黑"/>
              </a:rPr>
              <a:t>视觉与交互设计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078992"/>
            <a:ext cx="2103120" cy="27432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6304" y="411480"/>
            <a:ext cx="384048" cy="23774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32920" y="411480"/>
            <a:ext cx="23774" cy="38404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06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角色独立 HUD 环：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每个角色配备一套独立 SVG 图形（科技环 / 花瓣 / 装甲），配色与边界清晰差异化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多层动态背景：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网格、光晕、四角刻度、粒子氛围四层背景，随快捷盘开关平滑淡入淡出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鼠标跟随 3D 微动效：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立绘根据鼠标位置做 ±2° 的伪 3D 倾斜，营造「注视鼠标」的视线跟随感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动效体系：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呼吸、上下浮动、说话脉冲、角色专属动画通过独立属性叠加，互不干扰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91440" cy="56692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2A"/>
                </a:solidFill>
                <a:latin typeface="微软雅黑"/>
                <a:ea typeface="微软雅黑"/>
              </a:rPr>
              <a:t>关键技术难点与创新点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078992"/>
            <a:ext cx="2103120" cy="27432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6304" y="411480"/>
            <a:ext cx="384048" cy="23774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32920" y="411480"/>
            <a:ext cx="23774" cy="38404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07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700" b="1">
                <a:solidFill>
                  <a:srgbClr val="0B1F2A"/>
                </a:solidFill>
                <a:latin typeface="微软雅黑"/>
                <a:ea typeface="微软雅黑"/>
              </a:rPr>
              <a:t>CSS 独立变换属性解耦：</a:t>
            </a:r>
            <a:r>
              <a:rPr sz="1700" b="0">
                <a:solidFill>
                  <a:srgbClr val="3A4A55"/>
                </a:solidFill>
                <a:latin typeface="微软雅黑"/>
                <a:ea typeface="微软雅黑"/>
              </a:rPr>
              <a:t>使用 translate / rotate / scale 独立属性替代单一 transform，位移、缩放、旋转互不覆盖，解决动画叠加冲突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700" b="1">
                <a:solidFill>
                  <a:srgbClr val="0B1F2A"/>
                </a:solidFill>
                <a:latin typeface="微软雅黑"/>
                <a:ea typeface="微软雅黑"/>
              </a:rPr>
              <a:t>多层动画栈：</a:t>
            </a:r>
            <a:r>
              <a:rPr sz="1700" b="0">
                <a:solidFill>
                  <a:srgbClr val="3A4A55"/>
                </a:solidFill>
                <a:latin typeface="微软雅黑"/>
                <a:ea typeface="微软雅黑"/>
              </a:rPr>
              <a:t>单元素以逗号分隔叠加多段动画，并通过 CSS 变量按角色注入专属动画，避免样式膨胀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700" b="1">
                <a:solidFill>
                  <a:srgbClr val="0B1F2A"/>
                </a:solidFill>
                <a:latin typeface="微软雅黑"/>
                <a:ea typeface="微软雅黑"/>
              </a:rPr>
              <a:t>角色主题化：</a:t>
            </a:r>
            <a:r>
              <a:rPr sz="1700" b="0">
                <a:solidFill>
                  <a:srgbClr val="3A4A55"/>
                </a:solidFill>
                <a:latin typeface="微软雅黑"/>
                <a:ea typeface="微软雅黑"/>
              </a:rPr>
              <a:t>以 CSS 自定义属性（主色、发光色、强调色）实现「一套结构、三套皮肤」的可扩展主题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700" b="1">
                <a:solidFill>
                  <a:srgbClr val="0B1F2A"/>
                </a:solidFill>
                <a:latin typeface="微软雅黑"/>
                <a:ea typeface="微软雅黑"/>
              </a:rPr>
              <a:t>实时数据推送：</a:t>
            </a:r>
            <a:r>
              <a:rPr sz="1700" b="0">
                <a:solidFill>
                  <a:srgbClr val="3A4A55"/>
                </a:solidFill>
                <a:latin typeface="微软雅黑"/>
                <a:ea typeface="微软雅黑"/>
              </a:rPr>
              <a:t>主进程定时采集系统状态并通过 IPC 事件推送，渲染层低耦合更新，兼用轮询兜底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91440" cy="56692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2A"/>
                </a:solidFill>
                <a:latin typeface="微软雅黑"/>
                <a:ea typeface="微软雅黑"/>
              </a:rPr>
              <a:t>实现方案与技术选型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078992"/>
            <a:ext cx="2103120" cy="27432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6304" y="411480"/>
            <a:ext cx="384048" cy="23774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32920" y="411480"/>
            <a:ext cx="23774" cy="38404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08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技术栈：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Electron + 原生 HTML / CSS / JavaScript，无重型前端框架，降低运行开销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窗口方案：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透明无边框窗口，支持跨平台拖拽，融入桌面环境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通信安全：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contextBridge + preload 隔离，渲染层仅通过受控 API 与主进程交互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性能处理：</a:t>
            </a:r>
            <a:r>
              <a:rPr sz="1800" b="0">
                <a:solidFill>
                  <a:srgbClr val="3A4A55"/>
                </a:solidFill>
                <a:latin typeface="微软雅黑"/>
                <a:ea typeface="微软雅黑"/>
              </a:rPr>
              <a:t>requestAnimationFrame 驱动动画、will-change 提升合成层，兼顾流畅度与资源占用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91440" cy="56692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2A"/>
                </a:solidFill>
                <a:latin typeface="微软雅黑"/>
                <a:ea typeface="微软雅黑"/>
              </a:rPr>
              <a:t>成果与完成情况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078992"/>
            <a:ext cx="2103120" cy="27432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6304" y="411480"/>
            <a:ext cx="384048" cy="23774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32920" y="411480"/>
            <a:ext cx="23774" cy="38404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09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1463040"/>
          <a:ext cx="101498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3291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功能模块</a:t>
                      </a:r>
                    </a:p>
                  </a:txBody>
                  <a:tcPr marL="128016" marR="128016" marT="36576" marB="36576" anchor="ctr">
                    <a:solidFill>
                      <a:srgbClr val="008E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完成情况</a:t>
                      </a:r>
                    </a:p>
                  </a:txBody>
                  <a:tcPr marL="128016" marR="128016" marT="36576" marB="36576" anchor="ctr">
                    <a:solidFill>
                      <a:srgbClr val="008EA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B1F2A"/>
                          </a:solidFill>
                          <a:latin typeface="微软雅黑"/>
                          <a:ea typeface="微软雅黑"/>
                        </a:rPr>
                        <a:t>三角色系统与角色切换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8EA8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B1F2A"/>
                          </a:solidFill>
                          <a:latin typeface="微软雅黑"/>
                          <a:ea typeface="微软雅黑"/>
                        </a:rPr>
                        <a:t>语音气泡与角色台词</a:t>
                      </a:r>
                    </a:p>
                  </a:txBody>
                  <a:tcPr marL="128016" marR="128016" marT="36576" marB="36576" anchor="ctr">
                    <a:solidFill>
                      <a:srgbClr val="E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8EA8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marL="128016" marR="128016" marT="36576" marB="36576" anchor="ctr">
                    <a:solidFill>
                      <a:srgbClr val="E6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B1F2A"/>
                          </a:solidFill>
                          <a:latin typeface="微软雅黑"/>
                          <a:ea typeface="微软雅黑"/>
                        </a:rPr>
                        <a:t>实时系统状态监控（CPU / 内存 / 电池 / 网络）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8EA8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B1F2A"/>
                          </a:solidFill>
                          <a:latin typeface="微软雅黑"/>
                          <a:ea typeface="微软雅黑"/>
                        </a:rPr>
                        <a:t>低电量 / 断网状态告警</a:t>
                      </a:r>
                    </a:p>
                  </a:txBody>
                  <a:tcPr marL="128016" marR="128016" marT="36576" marB="36576" anchor="ctr">
                    <a:solidFill>
                      <a:srgbClr val="E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8EA8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marL="128016" marR="128016" marT="36576" marB="36576" anchor="ctr">
                    <a:solidFill>
                      <a:srgbClr val="E6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B1F2A"/>
                          </a:solidFill>
                          <a:latin typeface="微软雅黑"/>
                          <a:ea typeface="微软雅黑"/>
                        </a:rPr>
                        <a:t>角色独立 HUD 环（三套 SVG）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8EA8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B1F2A"/>
                          </a:solidFill>
                          <a:latin typeface="微软雅黑"/>
                          <a:ea typeface="微软雅黑"/>
                        </a:rPr>
                        <a:t>多层动态背景（网格 / 光晕 / 刻度 / 粒子）</a:t>
                      </a:r>
                    </a:p>
                  </a:txBody>
                  <a:tcPr marL="128016" marR="128016" marT="36576" marB="36576" anchor="ctr">
                    <a:solidFill>
                      <a:srgbClr val="E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8EA8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marL="128016" marR="128016" marT="36576" marB="36576" anchor="ctr">
                    <a:solidFill>
                      <a:srgbClr val="E6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B1F2A"/>
                          </a:solidFill>
                          <a:latin typeface="微软雅黑"/>
                          <a:ea typeface="微软雅黑"/>
                        </a:rPr>
                        <a:t>鼠标跟随 3D 微动效与呼吸浮动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8EA8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91440" cy="56692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F2A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078992"/>
            <a:ext cx="2103120" cy="27432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6304" y="411480"/>
            <a:ext cx="384048" cy="23774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32920" y="411480"/>
            <a:ext cx="23774" cy="384048"/>
          </a:xfrm>
          <a:prstGeom prst="rect">
            <a:avLst/>
          </a:prstGeom>
          <a:solidFill>
            <a:srgbClr val="00B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G计划 · 智能桌面宠物系统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8893"/>
                </a:solidFill>
                <a:latin typeface="微软雅黑"/>
                <a:ea typeface="微软雅黑"/>
              </a:rPr>
              <a:t>10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0">
                <a:solidFill>
                  <a:srgbClr val="3A4A55"/>
                </a:solidFill>
                <a:latin typeface="微软雅黑"/>
                <a:ea typeface="微软雅黑"/>
              </a:rPr>
              <a:t>本项目实现了一款集陪伴、可视化、告警于一体的桌面宠物系统，工程结构清晰、动效解耦、主题可扩展。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2A"/>
                </a:solidFill>
                <a:latin typeface="微软雅黑"/>
                <a:ea typeface="微软雅黑"/>
              </a:rPr>
              <a:t>展望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600" b="1">
                <a:solidFill>
                  <a:srgbClr val="0B1F2A"/>
                </a:solidFill>
                <a:latin typeface="微软雅黑"/>
                <a:ea typeface="微软雅黑"/>
              </a:rPr>
              <a:t>接入 AI 对话能力：</a:t>
            </a:r>
            <a:r>
              <a:rPr sz="1600" b="0">
                <a:solidFill>
                  <a:srgbClr val="3A4A55"/>
                </a:solidFill>
                <a:latin typeface="微软雅黑"/>
                <a:ea typeface="微软雅黑"/>
              </a:rPr>
              <a:t>结合大语言模型，实现更自然的拟人化对话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600" b="1">
                <a:solidFill>
                  <a:srgbClr val="0B1F2A"/>
                </a:solidFill>
                <a:latin typeface="微软雅黑"/>
                <a:ea typeface="微软雅黑"/>
              </a:rPr>
              <a:t>扩展角色与皮肤：</a:t>
            </a:r>
            <a:r>
              <a:rPr sz="1600" b="0">
                <a:solidFill>
                  <a:srgbClr val="3A4A55"/>
                </a:solidFill>
                <a:latin typeface="微软雅黑"/>
                <a:ea typeface="微软雅黑"/>
              </a:rPr>
              <a:t>在主题化框架下低成本扩展更多角色与视觉皮肤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600" b="1">
                <a:solidFill>
                  <a:srgbClr val="0B1F2A"/>
                </a:solidFill>
                <a:latin typeface="微软雅黑"/>
                <a:ea typeface="微软雅黑"/>
              </a:rPr>
              <a:t>更丰富的状态可视化：</a:t>
            </a:r>
            <a:r>
              <a:rPr sz="1600" b="0">
                <a:solidFill>
                  <a:srgbClr val="3A4A55"/>
                </a:solidFill>
                <a:latin typeface="微软雅黑"/>
                <a:ea typeface="微软雅黑"/>
              </a:rPr>
              <a:t>扩展网络、磁盘、进程等更多维度的可视化呈现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00B9D4"/>
                </a:solidFill>
                <a:latin typeface="微软雅黑"/>
                <a:ea typeface="微软雅黑"/>
              </a:rPr>
              <a:t>▪ </a:t>
            </a:r>
            <a:r>
              <a:rPr sz="1600" b="1">
                <a:solidFill>
                  <a:srgbClr val="0B1F2A"/>
                </a:solidFill>
                <a:latin typeface="微软雅黑"/>
                <a:ea typeface="微软雅黑"/>
              </a:rPr>
              <a:t>跨平台打包分发：</a:t>
            </a:r>
            <a:r>
              <a:rPr sz="1600" b="0">
                <a:solidFill>
                  <a:srgbClr val="3A4A55"/>
                </a:solidFill>
                <a:latin typeface="微软雅黑"/>
                <a:ea typeface="微软雅黑"/>
              </a:rPr>
              <a:t>完成 Windows / macOS / Linux 打包，降低使用门槛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